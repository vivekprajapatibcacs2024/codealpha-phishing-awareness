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ayfair Display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Oswa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Oswald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19" Type="http://schemas.openxmlformats.org/officeDocument/2006/relationships/font" Target="fonts/PlayfairDisplay-boldItalic.fntdata"/><Relationship Id="rId18" Type="http://schemas.openxmlformats.org/officeDocument/2006/relationships/font" Target="fonts/PlayfairDispl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72163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721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6f972163_0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6f97216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72163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7216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972163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97216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72163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7216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972163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97216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6f972163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c6f97216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c6f972163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c6f97216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c6f972163_0_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c6f97216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c6f972163_0_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c6f97216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Relationship Id="rId4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idx="4294967295" type="title"/>
          </p:nvPr>
        </p:nvSpPr>
        <p:spPr>
          <a:xfrm>
            <a:off x="5836250" y="682900"/>
            <a:ext cx="3204000" cy="252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</a:rPr>
              <a:t>Phishing Awareness Training Module</a:t>
            </a:r>
            <a:endParaRPr sz="4800">
              <a:solidFill>
                <a:schemeClr val="accent1"/>
              </a:solidFill>
            </a:endParaRPr>
          </a:p>
        </p:txBody>
      </p:sp>
      <p:sp>
        <p:nvSpPr>
          <p:cNvPr id="59" name="Google Shape;59;p13"/>
          <p:cNvSpPr txBox="1"/>
          <p:nvPr>
            <p:ph idx="4294967295" type="subTitle"/>
          </p:nvPr>
        </p:nvSpPr>
        <p:spPr>
          <a:xfrm>
            <a:off x="5836250" y="2872867"/>
            <a:ext cx="3204000" cy="20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Cyber Security Internship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Vivek prajapati</a:t>
            </a:r>
            <a:br>
              <a:rPr lang="en"/>
            </a:br>
            <a:r>
              <a:rPr lang="en"/>
              <a:t> Cyber Security Intern at CodeAlpha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Mail Phishing Free Stock Photo - Public Domain Pictures"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150" y="70650"/>
            <a:ext cx="5624850" cy="500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121558" y="70375"/>
            <a:ext cx="1823400" cy="50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3916600" y="70375"/>
            <a:ext cx="1823400" cy="50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2028675" y="70650"/>
            <a:ext cx="1823400" cy="5002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descr="Mail Phishing Free Stock Photo - Public Domain Pictures"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550" y="70375"/>
            <a:ext cx="5624850" cy="500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idx="4294967295" type="body"/>
          </p:nvPr>
        </p:nvSpPr>
        <p:spPr>
          <a:xfrm>
            <a:off x="502975" y="1339950"/>
            <a:ext cx="6105600" cy="33174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accent1"/>
                </a:solidFill>
              </a:rPr>
              <a:t>It is used by attackers to steal:</a:t>
            </a:r>
            <a:endParaRPr sz="2100">
              <a:solidFill>
                <a:schemeClr val="accent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2100">
                <a:solidFill>
                  <a:schemeClr val="accent1"/>
                </a:solidFill>
              </a:rPr>
              <a:t>Passwords</a:t>
            </a:r>
            <a:endParaRPr sz="2100">
              <a:solidFill>
                <a:schemeClr val="accen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2100">
                <a:solidFill>
                  <a:schemeClr val="accent1"/>
                </a:solidFill>
              </a:rPr>
              <a:t>Bank details</a:t>
            </a:r>
            <a:endParaRPr sz="2100">
              <a:solidFill>
                <a:schemeClr val="accen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2100">
                <a:solidFill>
                  <a:schemeClr val="accent1"/>
                </a:solidFill>
              </a:rPr>
              <a:t>OTP</a:t>
            </a:r>
            <a:endParaRPr sz="2100">
              <a:solidFill>
                <a:schemeClr val="accen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2100">
                <a:solidFill>
                  <a:schemeClr val="accent1"/>
                </a:solidFill>
              </a:rPr>
              <a:t>Personal information</a:t>
            </a:r>
            <a:endParaRPr sz="21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409425" y="243100"/>
            <a:ext cx="8310300" cy="122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accen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Phishing is one of the most common cyber attacks today.</a:t>
            </a:r>
            <a:endParaRPr b="1" sz="2400">
              <a:solidFill>
                <a:schemeClr val="accen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descr="Cyber Crime - Free of Charge Creative Commons Handwriting image"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8975" y="1087550"/>
            <a:ext cx="4685025" cy="38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490250" y="526350"/>
            <a:ext cx="7922400" cy="4090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</a:t>
            </a:r>
            <a:r>
              <a:rPr b="1" lang="en" sz="2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 is Phishing?</a:t>
            </a:r>
            <a:endParaRPr b="1" sz="2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Phishing is a cyber attack where criminals pretend to be a trusted organization to trick users.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They s</a:t>
            </a:r>
            <a:r>
              <a:rPr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nd: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Fake emails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Fake messages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Fake websites</a:t>
            </a:r>
            <a:br>
              <a:rPr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Goal: Steal sensitive information.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mail spoofing linear icon. Illegitimate business. Forged sender. Spamming. Fake email header. Mail phishing. Thin line illustration. Contour symbol. Vector isolated outline drawing. Editable stroke (Provided by Getty Images)" id="77" name="Google Shape;77;p15"/>
          <p:cNvPicPr preferRelativeResize="0"/>
          <p:nvPr/>
        </p:nvPicPr>
        <p:blipFill rotWithShape="1">
          <a:blip r:embed="rId3">
            <a:alphaModFix/>
          </a:blip>
          <a:srcRect b="39676" l="24293" r="27571" t="10233"/>
          <a:stretch/>
        </p:blipFill>
        <p:spPr>
          <a:xfrm>
            <a:off x="5514525" y="1891875"/>
            <a:ext cx="2618849" cy="272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265500" y="415825"/>
            <a:ext cx="4045200" cy="268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3200">
                <a:latin typeface="Arial"/>
                <a:ea typeface="Arial"/>
                <a:cs typeface="Arial"/>
                <a:sym typeface="Arial"/>
              </a:rPr>
              <a:t> </a:t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3200">
                <a:latin typeface="Arial"/>
                <a:ea typeface="Arial"/>
                <a:cs typeface="Arial"/>
                <a:sym typeface="Arial"/>
              </a:rPr>
              <a:t>Why Phishing is Dangerous?</a:t>
            </a:r>
            <a:endParaRPr b="1"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idx="1" type="subTitle"/>
          </p:nvPr>
        </p:nvSpPr>
        <p:spPr>
          <a:xfrm>
            <a:off x="265500" y="1919225"/>
            <a:ext cx="4045200" cy="30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Phishing can cause: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Financial loss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Identity theft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Account compromise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Data breach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Company reputation damage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3200"/>
          </a:p>
        </p:txBody>
      </p:sp>
      <p:pic>
        <p:nvPicPr>
          <p:cNvPr descr="Sepia-toned image of lifeguard stand on beach in front of calm body of water" id="84" name="Google Shape;84;p16"/>
          <p:cNvPicPr preferRelativeResize="0"/>
          <p:nvPr/>
        </p:nvPicPr>
        <p:blipFill rotWithShape="1">
          <a:blip r:embed="rId3">
            <a:alphaModFix/>
          </a:blip>
          <a:srcRect b="12850" l="19639" r="32966" t="7181"/>
          <a:stretch/>
        </p:blipFill>
        <p:spPr>
          <a:xfrm>
            <a:off x="4571100" y="0"/>
            <a:ext cx="4572899" cy="51435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cker committing cyber crime by stealing information from laptop (Provided by Getty Images)"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5800" y="0"/>
            <a:ext cx="48581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3940775" y="172850"/>
            <a:ext cx="3396900" cy="88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2"/>
                </a:solidFill>
              </a:rPr>
              <a:t>Many cyber attacks start with phishing.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 title="images.jpg"/>
          <p:cNvPicPr preferRelativeResize="0"/>
          <p:nvPr/>
        </p:nvPicPr>
        <p:blipFill rotWithShape="1">
          <a:blip r:embed="rId3">
            <a:alphaModFix/>
          </a:blip>
          <a:srcRect b="25417" l="1506" r="0" t="11371"/>
          <a:stretch/>
        </p:blipFill>
        <p:spPr>
          <a:xfrm>
            <a:off x="3616650" y="3102725"/>
            <a:ext cx="5527350" cy="178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title="OIP (4).jpg"/>
          <p:cNvPicPr preferRelativeResize="0"/>
          <p:nvPr/>
        </p:nvPicPr>
        <p:blipFill rotWithShape="1">
          <a:blip r:embed="rId4">
            <a:alphaModFix/>
          </a:blip>
          <a:srcRect b="16383" l="0" r="0" t="18291"/>
          <a:stretch/>
        </p:blipFill>
        <p:spPr>
          <a:xfrm>
            <a:off x="3616650" y="435025"/>
            <a:ext cx="5527350" cy="23798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351850" y="396650"/>
            <a:ext cx="4220100" cy="4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700">
                <a:solidFill>
                  <a:schemeClr val="dk2"/>
                </a:solidFill>
              </a:rPr>
              <a:t>Types of Phishing</a:t>
            </a:r>
            <a:endParaRPr b="1" sz="2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Email Phishing</a:t>
            </a:r>
            <a:br>
              <a:rPr lang="en" sz="1700">
                <a:solidFill>
                  <a:schemeClr val="dk2"/>
                </a:solidFill>
              </a:rPr>
            </a:b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Spear Phishing (Targeted attack)</a:t>
            </a:r>
            <a:br>
              <a:rPr lang="en" sz="1700">
                <a:solidFill>
                  <a:schemeClr val="dk2"/>
                </a:solidFill>
              </a:rPr>
            </a:b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Smishing (SMS phishing)</a:t>
            </a:r>
            <a:br>
              <a:rPr lang="en" sz="1700">
                <a:solidFill>
                  <a:schemeClr val="dk2"/>
                </a:solidFill>
              </a:rPr>
            </a:b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Vishing (Voice call phishing)</a:t>
            </a:r>
            <a:br>
              <a:rPr lang="en" sz="1700">
                <a:solidFill>
                  <a:schemeClr val="dk2"/>
                </a:solidFill>
              </a:rPr>
            </a:b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Clone Phishing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3173100" y="185525"/>
            <a:ext cx="5623200" cy="472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Email Phishing Example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</a:rPr>
              <a:t>Example message: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</a:rPr>
              <a:t>Warning signs: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Urgent language</a:t>
            </a:r>
            <a:br>
              <a:rPr lang="en" sz="1500">
                <a:solidFill>
                  <a:schemeClr val="dk2"/>
                </a:solidFill>
              </a:rPr>
            </a:b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Suspicious link</a:t>
            </a:r>
            <a:br>
              <a:rPr lang="en" sz="1500">
                <a:solidFill>
                  <a:schemeClr val="dk2"/>
                </a:solidFill>
              </a:rPr>
            </a:b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Unknown sender</a:t>
            </a:r>
            <a:br>
              <a:rPr lang="en" sz="1500">
                <a:solidFill>
                  <a:schemeClr val="dk2"/>
                </a:solidFill>
              </a:rPr>
            </a:b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Spelling mistakes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3307350" y="1874425"/>
            <a:ext cx="5700300" cy="403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“Your bank account will be suspended. Click here immediately to verify.</a:t>
            </a:r>
            <a:r>
              <a:rPr lang="en" sz="1100">
                <a:solidFill>
                  <a:schemeClr val="dk2"/>
                </a:solidFill>
              </a:rPr>
              <a:t>”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00" name="Google Shape;100;p18" title="2024-01-09-email-verification-phis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868299" cy="241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 title="phish_examp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77325"/>
            <a:ext cx="2868299" cy="21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idx="4294967295" type="title"/>
          </p:nvPr>
        </p:nvSpPr>
        <p:spPr>
          <a:xfrm>
            <a:off x="198325" y="152400"/>
            <a:ext cx="8520600" cy="11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300">
                <a:latin typeface="Arial"/>
                <a:ea typeface="Arial"/>
                <a:cs typeface="Arial"/>
                <a:sym typeface="Arial"/>
              </a:rPr>
              <a:t>Social Engineering</a:t>
            </a:r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1292300" y="2143200"/>
            <a:ext cx="43374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198325" y="1548175"/>
            <a:ext cx="3742500" cy="22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</a:rPr>
              <a:t>Phishing attacks use psychological tricks:</a:t>
            </a: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Fear (“Your account will be blocked”)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Urgency (“Act now!”)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Authority (“From bank manager”)</a:t>
            </a:r>
            <a:br>
              <a:rPr lang="en" sz="1300">
                <a:solidFill>
                  <a:schemeClr val="dk2"/>
                </a:solidFill>
              </a:rPr>
            </a:br>
            <a:endParaRPr sz="1300">
              <a:solidFill>
                <a:schemeClr val="dk2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Greed (“You won a prize”)</a:t>
            </a:r>
            <a:endParaRPr sz="2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09" name="Google Shape;109;p19" title="download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1425" y="632175"/>
            <a:ext cx="184785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 title="download.jpg"/>
          <p:cNvPicPr preferRelativeResize="0"/>
          <p:nvPr/>
        </p:nvPicPr>
        <p:blipFill rotWithShape="1">
          <a:blip r:embed="rId4">
            <a:alphaModFix/>
          </a:blip>
          <a:srcRect b="0" l="29686" r="0" t="0"/>
          <a:stretch/>
        </p:blipFill>
        <p:spPr>
          <a:xfrm>
            <a:off x="6627700" y="152400"/>
            <a:ext cx="236390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/>
        </p:nvSpPr>
        <p:spPr>
          <a:xfrm>
            <a:off x="102925" y="319875"/>
            <a:ext cx="5162700" cy="8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900">
                <a:solidFill>
                  <a:schemeClr val="dk2"/>
                </a:solidFill>
              </a:rPr>
              <a:t>How to Identify Phishing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313475" y="1125950"/>
            <a:ext cx="4107000" cy="30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</a:rPr>
              <a:t>Always check: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</a:rPr>
              <a:t>✔ Sender’s email address</a:t>
            </a:r>
            <a:br>
              <a:rPr lang="en" sz="2000">
                <a:solidFill>
                  <a:schemeClr val="dk2"/>
                </a:solidFill>
              </a:rPr>
            </a:br>
            <a:r>
              <a:rPr lang="en" sz="2000">
                <a:solidFill>
                  <a:schemeClr val="dk2"/>
                </a:solidFill>
              </a:rPr>
              <a:t> ✔ URL before clicking</a:t>
            </a:r>
            <a:br>
              <a:rPr lang="en" sz="2000">
                <a:solidFill>
                  <a:schemeClr val="dk2"/>
                </a:solidFill>
              </a:rPr>
            </a:br>
            <a:r>
              <a:rPr lang="en" sz="2000">
                <a:solidFill>
                  <a:schemeClr val="dk2"/>
                </a:solidFill>
              </a:rPr>
              <a:t> ✔ Spelling mistakes</a:t>
            </a:r>
            <a:br>
              <a:rPr lang="en" sz="2000">
                <a:solidFill>
                  <a:schemeClr val="dk2"/>
                </a:solidFill>
              </a:rPr>
            </a:br>
            <a:r>
              <a:rPr lang="en" sz="2000">
                <a:solidFill>
                  <a:schemeClr val="dk2"/>
                </a:solidFill>
              </a:rPr>
              <a:t> ✔ Unexpected attachments</a:t>
            </a:r>
            <a:br>
              <a:rPr lang="en" sz="2000">
                <a:solidFill>
                  <a:schemeClr val="dk2"/>
                </a:solidFill>
              </a:rPr>
            </a:br>
            <a:r>
              <a:rPr lang="en" sz="2000">
                <a:solidFill>
                  <a:schemeClr val="dk2"/>
                </a:solidFill>
              </a:rPr>
              <a:t> ✔ Threatening language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</a:rPr>
              <a:t>If unsure, verify from official website</a:t>
            </a:r>
            <a:endParaRPr sz="27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17" name="Google Shape;117;p20" title="10-Tips-To-Identify-Phishing-Emails.png"/>
          <p:cNvPicPr preferRelativeResize="0"/>
          <p:nvPr/>
        </p:nvPicPr>
        <p:blipFill rotWithShape="1">
          <a:blip r:embed="rId3">
            <a:alphaModFix/>
          </a:blip>
          <a:srcRect b="0" l="47641" r="0" t="0"/>
          <a:stretch/>
        </p:blipFill>
        <p:spPr>
          <a:xfrm>
            <a:off x="4572000" y="287300"/>
            <a:ext cx="4572000" cy="477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/>
        </p:nvSpPr>
        <p:spPr>
          <a:xfrm>
            <a:off x="351850" y="300675"/>
            <a:ext cx="8367900" cy="45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2"/>
                </a:solidFill>
              </a:rPr>
              <a:t>Prevention Methods</a:t>
            </a:r>
            <a:endParaRPr b="1" sz="28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Enable 2-Factor Authentication (2FA)</a:t>
            </a:r>
            <a:br>
              <a:rPr lang="en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Use strong passwords</a:t>
            </a:r>
            <a:br>
              <a:rPr lang="en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Do not click unknown links</a:t>
            </a:r>
            <a:br>
              <a:rPr lang="en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Keep software updated</a:t>
            </a:r>
            <a:br>
              <a:rPr lang="en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Report suspicious emails</a:t>
            </a:r>
            <a:br>
              <a:rPr lang="en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Awareness is the best defense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23" name="Google Shape;123;p21" title="images (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147750" cy="48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4294967295" type="body"/>
          </p:nvPr>
        </p:nvSpPr>
        <p:spPr>
          <a:xfrm>
            <a:off x="229675" y="358250"/>
            <a:ext cx="4114200" cy="47853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2800">
                <a:latin typeface="Arial"/>
                <a:ea typeface="Arial"/>
                <a:cs typeface="Arial"/>
                <a:sym typeface="Arial"/>
              </a:rPr>
              <a:t>Conclusion</a:t>
            </a:r>
            <a:endParaRPr b="1"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Phishing is a serious cybersecurity threat.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By understanding attack methods and following prevention practices, individuals and organizations can reduce risk.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Cyber awareness saves data and money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Quiz link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https://docs.google.com/forms/d/e/1FAIpQLScIsdAMaoMaGAkGWOBRfx_IKpLp-L09L7rekmU7n-rPY6sJTg/viewform?usp=header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22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7219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/>
          <p:nvPr/>
        </p:nvSpPr>
        <p:spPr>
          <a:xfrm>
            <a:off x="5610500" y="1797675"/>
            <a:ext cx="4414200" cy="3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F9D58"/>
      </a:accent4>
      <a:accent5>
        <a:srgbClr val="01AFD1"/>
      </a:accent5>
      <a:accent6>
        <a:srgbClr val="9C27B0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